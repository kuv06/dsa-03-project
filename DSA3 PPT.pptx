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4" r:id="rId5"/>
    <p:sldId id="258" r:id="rId6"/>
    <p:sldId id="261" r:id="rId7"/>
    <p:sldId id="265" r:id="rId8"/>
    <p:sldId id="259" r:id="rId9"/>
    <p:sldId id="267" r:id="rId10"/>
    <p:sldId id="266" r:id="rId11"/>
    <p:sldId id="260" r:id="rId12"/>
    <p:sldId id="262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1027775"/>
            <a:ext cx="9144000" cy="2316702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 smtClean="0">
                <a:solidFill>
                  <a:srgbClr val="C00000"/>
                </a:solidFill>
                <a:latin typeface="+mn-lt"/>
              </a:rPr>
              <a:t>Data Structures and Algorithms -3 (25CS2103E)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Travelling Salesman Route Planner using Bitmask Dynamic Programming</a:t>
            </a:r>
            <a:endParaRPr lang="en-US" sz="40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70160" y="3513524"/>
            <a:ext cx="4551284" cy="1396014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Team Members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A.Kuvira        2520030192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K.Rishita       2520030367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P.Sudha         2520030455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                           </a:t>
            </a:r>
            <a:endParaRPr lang="en-US" dirty="0">
              <a:solidFill>
                <a:srgbClr val="0070C0"/>
              </a:solidFill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Name of the </a:t>
            </a:r>
            <a:r>
              <a:rPr lang="en-US" sz="1800" b="1" kern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DSA-3 </a:t>
            </a:r>
            <a:r>
              <a:rPr lang="en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faculty name with designation and department  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  <a:endParaRPr lang="en-US" sz="3200" b="0" i="0" u="none" strike="noStrike" kern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Literature survey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Problem Statement and Objectives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Results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 </a:t>
            </a:r>
            <a:endParaRPr lang="en-US" sz="32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Future Scope 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8" name="Rectangle: Rounded Corners 7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875665" y="1167765"/>
            <a:ext cx="10730230" cy="520954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buFont typeface="Arial" panose="020B0604020202020204"/>
              <a:buChar char="•"/>
            </a:pPr>
            <a:r>
              <a:rPr sz="2400" b="0" i="1"/>
              <a:t>Travelling Salesman Problem (TSP) is a classic combinatorial optimization problem for finding the minimum-cost route through all cities.</a:t>
            </a:r>
            <a:endParaRPr sz="2400" b="0" i="1"/>
          </a:p>
          <a:p>
            <a:pPr>
              <a:buFont typeface="Arial" panose="020B0604020202020204"/>
              <a:buChar char="•"/>
            </a:pPr>
            <a:r>
              <a:rPr sz="2400" b="0" i="1"/>
              <a:t>The project uses Bitmask Dynamic Programming to efficiently solve TSP.</a:t>
            </a:r>
            <a:endParaRPr sz="2400" b="0" i="1"/>
          </a:p>
          <a:p>
            <a:pPr>
              <a:buFont typeface="Arial" panose="020B0604020202020204"/>
              <a:buChar char="•"/>
            </a:pPr>
            <a:r>
              <a:rPr sz="2400" b="0" i="1"/>
              <a:t>Bitmasks represent the set of cities that have already been visited.</a:t>
            </a:r>
            <a:endParaRPr sz="2400" b="0" i="1"/>
          </a:p>
          <a:p>
            <a:pPr>
              <a:buFont typeface="Arial" panose="020B0604020202020204"/>
              <a:buChar char="•"/>
            </a:pPr>
            <a:r>
              <a:rPr sz="2400" b="0" i="1"/>
              <a:t>Dynamic Programming stores previously calculated results to avoid repeated computations.</a:t>
            </a:r>
            <a:endParaRPr sz="2400" b="0" i="1"/>
          </a:p>
          <a:p>
            <a:pPr>
              <a:buFont typeface="Arial" panose="020B0604020202020204"/>
              <a:buChar char="•"/>
            </a:pPr>
            <a:r>
              <a:rPr sz="2400" b="0" i="1"/>
              <a:t>The system calculates the minimum travel cost and identifies the optimal route.</a:t>
            </a:r>
            <a:endParaRPr sz="2400" b="0" i="1"/>
          </a:p>
          <a:p>
            <a:pPr>
              <a:buFont typeface="Arial" panose="020B0604020202020204"/>
              <a:buChar char="•"/>
            </a:pPr>
            <a:r>
              <a:rPr sz="2400" b="0" i="1"/>
              <a:t>The generated route is displayed through route visualization for easy understanding.</a:t>
            </a:r>
            <a:endParaRPr sz="2400" b="0" i="1"/>
          </a:p>
          <a:p>
            <a:pPr>
              <a:buFont typeface="Arial" panose="020B0604020202020204"/>
              <a:buChar char="•"/>
            </a:pPr>
            <a:r>
              <a:rPr sz="2400" b="0" i="1"/>
              <a:t>The project compares Bitmask DP with naïve/brute-force approaches in terms of efficiency.</a:t>
            </a:r>
            <a:endParaRPr sz="2400" b="0" i="1"/>
          </a:p>
          <a:p>
            <a:pPr>
              <a:buFont typeface="Arial" panose="020B0604020202020204"/>
              <a:buChar char="•"/>
            </a:pPr>
            <a:r>
              <a:rPr sz="2400" b="0" i="1"/>
              <a:t>It demonstrates the practical application of Dynamic Programming in combinatorial optimization and route planning.</a:t>
            </a:r>
            <a:endParaRPr sz="2400" b="0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26745" y="1466850"/>
            <a:ext cx="10621010" cy="468058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buFont typeface="Arial" panose="020B0604020202020204"/>
              <a:buChar char="•"/>
            </a:pPr>
            <a:r>
              <a:rPr sz="2000"/>
              <a:t>The Travelling Salesman Problem (TSP) is a classic combinatorial optimization problem.</a:t>
            </a:r>
            <a:endParaRPr sz="2000"/>
          </a:p>
          <a:p>
            <a:pPr>
              <a:buFont typeface="Arial" panose="020B0604020202020204"/>
              <a:buChar char="•"/>
            </a:pPr>
            <a:r>
              <a:rPr sz="2000"/>
              <a:t>It aims to find the shortest or minimum-cost route that visits every city exactly once and returns to the starting city.</a:t>
            </a:r>
            <a:endParaRPr sz="2000"/>
          </a:p>
          <a:p>
            <a:pPr>
              <a:buFont typeface="Arial" panose="020B0604020202020204"/>
              <a:buChar char="•"/>
            </a:pPr>
            <a:r>
              <a:rPr sz="2000"/>
              <a:t>The number of possible routes increases rapidly as the number of cities grows.</a:t>
            </a:r>
            <a:endParaRPr sz="2000"/>
          </a:p>
          <a:p>
            <a:pPr>
              <a:buFont typeface="Arial" panose="020B0604020202020204"/>
              <a:buChar char="•"/>
            </a:pPr>
            <a:r>
              <a:rPr sz="2000"/>
              <a:t>Brute-force methods require checking a large number of possible routes, making them inefficient for larger inputs.</a:t>
            </a:r>
            <a:endParaRPr sz="2000"/>
          </a:p>
          <a:p>
            <a:pPr>
              <a:buFont typeface="Arial" panose="020B0604020202020204"/>
              <a:buChar char="•"/>
            </a:pPr>
            <a:r>
              <a:rPr sz="2000"/>
              <a:t>Bitmask Dynamic Programming provides an efficient approach by representing visited cities using binary masks.</a:t>
            </a:r>
            <a:endParaRPr sz="2000"/>
          </a:p>
          <a:p>
            <a:pPr>
              <a:buFont typeface="Arial" panose="020B0604020202020204"/>
              <a:buChar char="•"/>
            </a:pPr>
            <a:r>
              <a:rPr sz="2000"/>
              <a:t>Previously computed results are stored and reused to reduce repeated calculations.</a:t>
            </a:r>
            <a:endParaRPr sz="2000"/>
          </a:p>
          <a:p>
            <a:pPr>
              <a:buFont typeface="Arial" panose="020B0604020202020204"/>
              <a:buChar char="•"/>
            </a:pPr>
            <a:r>
              <a:rPr sz="2000"/>
              <a:t>The project develops a route planning application that calculates the optimal route and minimum travel cost.</a:t>
            </a:r>
            <a:endParaRPr sz="2000"/>
          </a:p>
          <a:p>
            <a:pPr>
              <a:buFont typeface="Arial" panose="020B0604020202020204"/>
              <a:buChar char="•"/>
            </a:pPr>
            <a:r>
              <a:rPr sz="2000"/>
              <a:t>The solution is also visualized as a graph, making the route easier to understand.</a:t>
            </a:r>
            <a:endParaRPr sz="2000"/>
          </a:p>
          <a:p>
            <a:pPr>
              <a:buFont typeface="Arial" panose="020B0604020202020204"/>
              <a:buChar char="•"/>
            </a:pPr>
            <a:r>
              <a:rPr sz="2000"/>
              <a:t>The project demonstrates the practical use of Dynamic Programming and graph-based optimization.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00710" y="1760220"/>
            <a:ext cx="10814050" cy="409956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buFont typeface="Arial" panose="020B0604020202020204"/>
              <a:buChar char="•"/>
            </a:pPr>
            <a:r>
              <a:rPr sz="2000"/>
              <a:t>Dantzig, Fulkerson and Johnson (1954): Introduced an important mathematical approach for solving the Travelling Salesman Problem using integer programming and cutting-plane techniques.</a:t>
            </a:r>
            <a:endParaRPr sz="2000"/>
          </a:p>
          <a:p>
            <a:pPr>
              <a:buFont typeface="Arial" panose="020B0604020202020204"/>
              <a:buChar char="•"/>
            </a:pPr>
            <a:r>
              <a:rPr sz="2000"/>
              <a:t>Held and Karp (1962): Proposed a Dynamic Programming approach for TSP, forming the foundation for modern subset-based DP solutions.</a:t>
            </a:r>
            <a:endParaRPr sz="2000"/>
          </a:p>
          <a:p>
            <a:pPr>
              <a:buFont typeface="Arial" panose="020B0604020202020204"/>
              <a:buChar char="•"/>
            </a:pPr>
            <a:r>
              <a:rPr sz="2000"/>
              <a:t>Bellman (1962): Developed the Dynamic Programming formulation for routing problems and demonstrated how complex optimization problems can be divided into smaller subproblems.</a:t>
            </a:r>
            <a:endParaRPr sz="2000"/>
          </a:p>
          <a:p>
            <a:pPr>
              <a:buFont typeface="Arial" panose="020B0604020202020204"/>
              <a:buChar char="•"/>
            </a:pPr>
            <a:r>
              <a:rPr sz="2000"/>
              <a:t>Lawler et al. (1985): Presented comprehensive methods for solving TSP, including Dynamic Programming, branch-and-bound, and approximation techniques.</a:t>
            </a:r>
            <a:endParaRPr sz="2000"/>
          </a:p>
          <a:p>
            <a:pPr>
              <a:buFont typeface="Arial" panose="020B0604020202020204"/>
              <a:buChar char="•"/>
            </a:pPr>
            <a:r>
              <a:rPr sz="2000"/>
              <a:t>Recent TSP research: Modern approaches increasingly combine exact algorithms, heuristics, metaheuristics, and machine learning to handle large-scale routing problems.</a:t>
            </a:r>
            <a:endParaRPr sz="2000"/>
          </a:p>
          <a:p>
            <a:pPr>
              <a:buFont typeface="Arial" panose="020B0604020202020204"/>
              <a:buChar char="•"/>
            </a:pPr>
            <a:r>
              <a:rPr sz="2000"/>
              <a:t>Research Gap: Traditional exact methods provide optimal solutions but become computationally expensive as the number of cities increases. This project focuses on Bitmask Dynamic Programming for efficiently solving small-to-medium-sized TSP instances while providing optimal path visualization and performance comparison.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708025" y="1351915"/>
            <a:ext cx="10509250" cy="4939030"/>
          </a:xfrm>
          <a:prstGeom prst="rect">
            <a:avLst/>
          </a:prstGeom>
        </p:spPr>
        <p:txBody>
          <a:bodyPr wrap="square"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sz="2400"/>
              <a:t>The Travelling Salesman Problem (TSP) requires finding a minimum-cost route that visits every city exactly once and returns to the starting city.</a:t>
            </a:r>
            <a:endParaRPr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/>
              <a:t>As the number of cities increases, the number of possible routes grows rapidly.</a:t>
            </a:r>
            <a:endParaRPr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/>
              <a:t>Naïve brute-force approaches become computationally expensive for larger inputs.</a:t>
            </a:r>
            <a:endParaRPr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/>
              <a:t>An efficient optimization technique is required to solve TSP while reducing repeated calculations.</a:t>
            </a:r>
            <a:endParaRPr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To implement Bitmask Dynamic Programming for solving TSP.</a:t>
            </a: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To determine the minimum-cost route visiting all cities exactly once.</a:t>
            </a: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To calculate and display the total minimum travel cost.</a:t>
            </a:r>
            <a:endParaRPr lang="en-US" altLang="en-US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7" name="Picture 6" descr="ChatGPT Image Sep 17, 2026, 12_37_56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0075" y="842645"/>
            <a:ext cx="5659755" cy="58807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15950" y="1855470"/>
            <a:ext cx="9344660" cy="3947160"/>
          </a:xfrm>
          <a:prstGeom prst="rect">
            <a:avLst/>
          </a:prstGeom>
        </p:spPr>
        <p:txBody>
          <a:bodyPr wrap="square"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sz="2400"/>
              <a:t>Successfully implemented TSP using Bitmask Dynamic Programming.</a:t>
            </a:r>
            <a:endParaRPr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/>
              <a:t>Calculated the minimum-cost route for the given cities and travel costs.</a:t>
            </a:r>
            <a:endParaRPr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/>
              <a:t>Generated the optimal path and total travel cost.</a:t>
            </a:r>
            <a:endParaRPr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/>
              <a:t>Visualized the selected route using a graph-based representation.</a:t>
            </a:r>
            <a:endParaRPr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/>
              <a:t>Reduced repeated computations compared with the naïve brute-force approach.</a:t>
            </a:r>
            <a:endParaRPr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/>
              <a:t>Demonstrated the practical use of Dynamic Programming for combinatorial optimization</a:t>
            </a:r>
            <a:r>
              <a:rPr sz="1600"/>
              <a:t>.</a:t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14985" y="1659890"/>
            <a:ext cx="8753475" cy="439991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sz="2000" b="1"/>
              <a:t>Hardware:</a:t>
            </a:r>
            <a:endParaRPr sz="2000" b="1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/>
              <a:t>Processor: Intel Core i3 or equivalent and above</a:t>
            </a:r>
            <a:endParaRPr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/>
              <a:t>RAM: Minimum 4 GB</a:t>
            </a:r>
            <a:endParaRPr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/>
              <a:t>Storage: Minimum 500 MB free space</a:t>
            </a:r>
            <a:endParaRPr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/>
              <a:t>Display: Standard monitor</a:t>
            </a:r>
            <a:endParaRPr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/>
              <a:t>Keyboard and Mouse: Standard input devices</a:t>
            </a:r>
            <a:endParaRPr sz="2000"/>
          </a:p>
          <a:p>
            <a:r>
              <a:rPr lang="en-US" sz="2000" b="1"/>
              <a:t>Software:</a:t>
            </a:r>
            <a:endParaRPr lang="en-US" sz="2000" b="1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/>
              <a:t>Operating System: Windows / Linux / macOS</a:t>
            </a:r>
            <a:endParaRPr lang="en-US" alt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/>
              <a:t>Programming Language: Java / Python</a:t>
            </a:r>
            <a:endParaRPr lang="en-US" alt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/>
              <a:t>IDE: VS Code / IntelliJ IDEA</a:t>
            </a:r>
            <a:endParaRPr lang="en-US" alt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/>
              <a:t>Frontend: HTML, CSS, JavaScript</a:t>
            </a:r>
            <a:endParaRPr lang="en-US" alt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/>
              <a:t>Visualization: D3.js / Chart.js</a:t>
            </a:r>
            <a:endParaRPr lang="en-US" alt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/>
              <a:t>Browser: Google Chrome / Microsoft Edge</a:t>
            </a:r>
            <a:endParaRPr lang="en-US" alt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/>
              <a:t>Version Control: Git and GitHub</a:t>
            </a:r>
            <a:endParaRPr lang="en-US" altLang="en-US"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97865" y="1350645"/>
            <a:ext cx="9151620" cy="4156075"/>
          </a:xfrm>
          <a:prstGeom prst="rect">
            <a:avLst/>
          </a:prstGeom>
        </p:spPr>
        <p:txBody>
          <a:bodyPr wrap="square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sz="2400"/>
              <a:t>The project successfully demonstrates an efficient solution to the Travelling Salesman Problem using Bitmask Dynamic Programming.</a:t>
            </a:r>
            <a:endParaRPr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400"/>
              <a:t>The algorithm calculates the minimum travel cost while generating the corresponding optimal route.</a:t>
            </a:r>
            <a:endParaRPr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400"/>
              <a:t>Bitmask representation efficiently manages the visited-city states.</a:t>
            </a:r>
            <a:endParaRPr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400"/>
              <a:t>Compared with brute-force methods, Dynamic Programming avoids repeated calculations and improves efficiency.</a:t>
            </a:r>
            <a:endParaRPr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400"/>
              <a:t>Route visualization makes the solution easy to understand and interpret.</a:t>
            </a:r>
            <a:endParaRPr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400"/>
              <a:t>The project demonstrates the practical application of Dynamic Programming, graph algorithms, and combinatorial optimization.</a:t>
            </a: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04825" y="1804035"/>
            <a:ext cx="8896350" cy="4269740"/>
          </a:xfrm>
          <a:prstGeom prst="rect">
            <a:avLst/>
          </a:prstGeom>
        </p:spPr>
        <p:txBody>
          <a:bodyPr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sz="2400"/>
              <a:t>Support larger numbers of cities using more advanced optimization techniques.</a:t>
            </a:r>
            <a:endParaRPr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/>
              <a:t>Add real-world map integration with GPS and location data.</a:t>
            </a:r>
            <a:endParaRPr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/>
              <a:t>Use real-time distance and traffic information for route planning.</a:t>
            </a:r>
            <a:endParaRPr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/>
              <a:t>Implement additional algorithms such as Genetic Algorithm, Simulated Annealing, or Branch and Bound.</a:t>
            </a:r>
            <a:endParaRPr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/>
              <a:t>Add interactive route editing and city management.</a:t>
            </a:r>
            <a:endParaRPr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/>
              <a:t>Develop a mobile or web-based version for practical use.</a:t>
            </a:r>
            <a:endParaRPr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/>
              <a:t>Extend the system to support multiple vehicles and delivery routes.</a:t>
            </a:r>
            <a:endParaRPr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Thank you</a:t>
            </a:r>
            <a:endParaRPr lang="en-US" sz="32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5836</Words>
  <Application>WPS Office WWO_wpscloud_20260908203122-997daf6cd0</Application>
  <PresentationFormat>Widescreen</PresentationFormat>
  <Paragraphs>116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宋体</vt:lpstr>
      <vt:lpstr>Wingdings</vt:lpstr>
      <vt:lpstr>Times New Roman</vt:lpstr>
      <vt:lpstr>Gautami</vt:lpstr>
      <vt:lpstr>Noto Sans Kannada</vt:lpstr>
      <vt:lpstr>Calibri</vt:lpstr>
      <vt:lpstr>Arial</vt:lpstr>
      <vt:lpstr>微软雅黑</vt:lpstr>
      <vt:lpstr>汉仪旗黑KW 55S</vt:lpstr>
      <vt:lpstr>汉仪书宋二KW</vt:lpstr>
      <vt:lpstr>Kingsoft Confetti</vt:lpstr>
      <vt:lpstr>Office Theme</vt:lpstr>
      <vt:lpstr>       Data Structures and Algorithms -3 (25CS2103E)  Travelling Salesman Route Planner using Bitmask Dynamic Programming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_x000B_      Data Structures and Algorithms -3 (25CS2103E)  Travelling Salesman Route Planner using Bitmask Dynamic Programming</dc:title>
  <dc:creator>Sirisha Devi</dc:creator>
  <cp:lastModifiedBy>Gayatri Puvvada</cp:lastModifiedBy>
  <dcterms:created xsi:type="dcterms:W3CDTF">2026-09-17T08:01:31Z</dcterms:created>
  <dcterms:modified xsi:type="dcterms:W3CDTF">2026-09-17T08:01:31Z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2052-12.9.0.28592</vt:lpwstr>
  </property>
</Properties>
</file>